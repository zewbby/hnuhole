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f2cc8760934dbe" /><Relationship Type="http://schemas.openxmlformats.org/officeDocument/2006/relationships/extended-properties" Target="/docProps/app.xml" Id="R9d4e896348524859" /><Relationship Type="http://schemas.openxmlformats.org/officeDocument/2006/relationships/officeDocument" Target="/ppt/presentation.xml" Id="Rc3b82003f5c240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c88663aaf64abe"/>
  </p:sldMasterIdLst>
  <p:notesMasterIdLst>
    <p:notesMasterId xmlns:r="http://schemas.openxmlformats.org/officeDocument/2006/relationships" r:id="Rb4380d79deda404e"/>
  </p:notesMasterIdLst>
  <p:sldIdLst>
    <p:sldId xmlns:r="http://schemas.openxmlformats.org/officeDocument/2006/relationships" id="256" r:id="R218e2bac582e4ed6"/>
    <p:sldId xmlns:r="http://schemas.openxmlformats.org/officeDocument/2006/relationships" id="257" r:id="Rc8ec682cfffc450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c8230e597f4acf" /><Relationship Type="http://schemas.openxmlformats.org/officeDocument/2006/relationships/slideMaster" Target="/ppt/slideMasters/slideMaster1.xml" Id="R91c88663aaf64abe" /><Relationship Type="http://schemas.openxmlformats.org/officeDocument/2006/relationships/notesMaster" Target="/ppt/notesMasters/notesMaster1.xml" Id="Rb4380d79deda404e" /><Relationship Type="http://schemas.openxmlformats.org/officeDocument/2006/relationships/presProps" Target="/ppt/presProps.xml" Id="R872503f74a2749c7" /><Relationship Type="http://schemas.openxmlformats.org/officeDocument/2006/relationships/tableStyles" Target="/ppt/tableStyles.xml" Id="R605e8d3164aa4836" /><Relationship Type="http://schemas.openxmlformats.org/officeDocument/2006/relationships/slide" Target="/ppt/slides/slide1.xml" Id="R218e2bac582e4ed6" /><Relationship Type="http://schemas.openxmlformats.org/officeDocument/2006/relationships/slide" Target="/ppt/slides/slide2.xml" Id="Rc8ec682cfffc45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243e3af89a42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4e84256cc47416e" /><Relationship Type="http://schemas.openxmlformats.org/officeDocument/2006/relationships/notesMaster" Target="/ppt/notesMasters/notesMaster1.xml" Id="Ra4a13905885a496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52c0b7bef9b4008" /><Relationship Type="http://schemas.openxmlformats.org/officeDocument/2006/relationships/notesMaster" Target="/ppt/notesMasters/notesMaster1.xml" Id="R145450a606d740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来源：用户提供的《SpeechFUL AI Coding 协作范式设计报告》V1.0，2026-10-29。所有流程节点、连线和文字均为可编辑 PowerPoint 原生对象。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来源：用户提供的《SpeechFUL AI Coding 协作范式设计报告》V1.0，2026-10-29。执行循环的反馈箭头表示验收或验证失败后返回开发环节。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5a67e6fea7422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c0ae2eea0b4b0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3b5fd57e584f4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213842992742b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189ac077bd452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76175077534b4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FB8C0C9-577B-4F1E-9C52-03AF31E0A7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21C8C7F-A093-4FA5-830A-CDDA8EDB9CA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50D5E5A-F6C3-45FC-9FDD-69F26A040D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A9F30D7-4686-4CAA-8F57-D5EF9C5D39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70F345B-9D44-4FCC-B19A-80F4F48174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C2E3113-7DDF-4DD9-B8BB-BA29DD0BE6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7C2F0AE-FC68-45E5-A091-A8CACCBF969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68B0D90-79D3-44A0-B3DF-C90EA119CF7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DBEC6E0-4DB0-402A-9F53-6307600008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AEF4F79-1F82-4C3C-916F-C4831B300A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5cc754788e46a1" /><Relationship Type="http://schemas.openxmlformats.org/officeDocument/2006/relationships/slideLayout" Target="/ppt/slideLayouts/slideLayout1.xml" Id="Rac1c95082f1c425b" /><Relationship Type="http://schemas.openxmlformats.org/officeDocument/2006/relationships/slideLayout" Target="/ppt/slideLayouts/slideLayout2.xml" Id="Raede3859c5f64619" /><Relationship Type="http://schemas.openxmlformats.org/officeDocument/2006/relationships/slideLayout" Target="/ppt/slideLayouts/slideLayout3.xml" Id="Rd5f6068a430149be" /><Relationship Type="http://schemas.openxmlformats.org/officeDocument/2006/relationships/slideLayout" Target="/ppt/slideLayouts/slideLayout4.xml" Id="Ra39d662d120543fe" /><Relationship Type="http://schemas.openxmlformats.org/officeDocument/2006/relationships/slideLayout" Target="/ppt/slideLayouts/slideLayout5.xml" Id="Ra7d96e00cc54489b" /><Relationship Type="http://schemas.openxmlformats.org/officeDocument/2006/relationships/slideLayout" Target="/ppt/slideLayouts/slideLayout6.xml" Id="R80ecb119ccf846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1c95082f1c425b"/>
    <p:sldLayoutId xmlns:r="http://schemas.openxmlformats.org/officeDocument/2006/relationships" id="2147483650" r:id="Raede3859c5f64619"/>
    <p:sldLayoutId xmlns:r="http://schemas.openxmlformats.org/officeDocument/2006/relationships" id="2147483651" r:id="Rd5f6068a430149be"/>
    <p:sldLayoutId xmlns:r="http://schemas.openxmlformats.org/officeDocument/2006/relationships" id="2147483652" r:id="Ra39d662d120543fe"/>
    <p:sldLayoutId xmlns:r="http://schemas.openxmlformats.org/officeDocument/2006/relationships" id="2147483653" r:id="Ra7d96e00cc54489b"/>
    <p:sldLayoutId xmlns:r="http://schemas.openxmlformats.org/officeDocument/2006/relationships" id="2147483654" r:id="R80ecb119ccf846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c0ffbd9c664bf6" /><Relationship Type="http://schemas.openxmlformats.org/officeDocument/2006/relationships/notesSlide" Target="/ppt/notesSlides/notesSlide1.xml" Id="Rce6f9efe9b48426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c2b9657dae480c" /><Relationship Type="http://schemas.openxmlformats.org/officeDocument/2006/relationships/notesSlide" Target="/ppt/notesSlides/notesSlide2.xml" Id="R2ca717a1677a4ff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140BD35-E3DF-4936-8304-A3AC20E056C1}"/>
              </a:ext>
            </a:extLst>
          </p:cNvPr>
          <p:cNvCxnSpPr>
            <a:stCxn xmlns:a="http://schemas.openxmlformats.org/drawingml/2006/main" id="33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9324975" y="4438650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75DAD"/>
            </a:solidFill>
            <a:prstDash val="solid"/>
            <a:tailEnd type="triangle" w="sm" len="sm"/>
          </a:ln>
        </p:spPr>
      </p:cxnSp>
      <p:cxnSp>
        <p:nvCxn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E0FEB32-22E7-44D9-BE7F-8029538345A8}"/>
              </a:ext>
            </a:extLst>
          </p:cNvPr>
          <p:cNvCxnSpPr>
            <a:stCxn xmlns:a="http://schemas.openxmlformats.org/drawingml/2006/main" id="30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7439025" y="4438650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75DAD"/>
            </a:solidFill>
            <a:prstDash val="solid"/>
            <a:tailEnd type="triangle" w="sm" len="sm"/>
          </a:ln>
        </p:spPr>
      </p:cxnSp>
      <p:cxnSp>
        <p:nvCxn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2D02E8D-BD82-4FFA-878F-6DD0E91F6DF0}"/>
              </a:ext>
            </a:extLst>
          </p:cNvPr>
          <p:cNvCxnSpPr>
            <a:stCxn xmlns:a="http://schemas.openxmlformats.org/drawingml/2006/main" id="27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5553075" y="4438650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75DAD"/>
            </a:solidFill>
            <a:prstDash val="solid"/>
            <a:tailEnd type="triangle" w="sm" len="sm"/>
          </a:ln>
        </p:spPr>
      </p:cxnSp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3B42A2C-D4F6-4E9C-8CD2-A9C6505D1D66}"/>
              </a:ext>
            </a:extLst>
          </p:cNvPr>
          <p:cNvCxnSpPr>
            <a:stCxn xmlns:a="http://schemas.openxmlformats.org/drawingml/2006/main" id="24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3667125" y="4438650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75DAD"/>
            </a:solidFill>
            <a:prstDash val="solid"/>
            <a:tailEnd type="triangle" w="sm" len="sm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B0AD7E-FCDE-4E05-84B6-4F47A3170CA4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429625" y="24479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B7A75"/>
            </a:solidFill>
            <a:prstDash val="solid"/>
            <a:tailEnd type="triangle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965719-B993-4CFC-AE58-3D4DC84CAB8B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238875" y="24479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B7A75"/>
            </a:solidFill>
            <a:prstDash val="solid"/>
            <a:tailEnd type="triangle" w="sm" len="sm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966A37-FCA7-44F5-95B6-952901D52125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048125" y="24479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B7A75"/>
            </a:solidFill>
            <a:prstDash val="solid"/>
            <a:tailEnd type="triangle" w="sm" len="sm"/>
          </a:ln>
        </p:spPr>
      </p:cxnSp>
      <p:sp>
        <p:nvSpPr>
          <p:cNvPr id="46" name="title">
            <a:extLst xmlns:a="http://schemas.openxmlformats.org/drawingml/2006/main">
              <a:ext uri="{FF2B5EF4-FFF2-40B4-BE49-F238E27FC236}">
                <a16:creationId xmlns:a16="http://schemas.microsoft.com/office/drawing/2014/main" id="{E86C2112-70D0-4B4F-B11C-CE5DE59D0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rPr>
              <a:t>SpeechFUL AI Coding 工作流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14C1C04-8A35-4A39-AF95-BCDEE699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rPr>
              <a:t>默认常规开发；仅在用户调用 $orchestrator 时启用指挥模式</a:t>
            </a:r>
          </a:p>
        </p:txBody>
      </p:sp>
      <p:sp>
        <p:nvSpPr>
          <p:cNvPr id="3" name="divider-169">
            <a:extLst xmlns:a="http://schemas.openxmlformats.org/drawingml/2006/main">
              <a:ext uri="{FF2B5EF4-FFF2-40B4-BE49-F238E27FC236}">
                <a16:creationId xmlns:a16="http://schemas.microsoft.com/office/drawing/2014/main" id="{0C6144BA-5988-4CFB-9169-7EFCE0B8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normal-label">
            <a:extLst xmlns:a="http://schemas.openxmlformats.org/drawingml/2006/main">
              <a:ext uri="{FF2B5EF4-FFF2-40B4-BE49-F238E27FC236}">
                <a16:creationId xmlns:a16="http://schemas.microsoft.com/office/drawing/2014/main" id="{BAB96C72-43DB-4FFD-B59E-92454F432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85975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0B7A7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0B7A7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0B7A7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0B7A7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0B7A7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0B7A7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0B7A7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0B7A7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0B7A7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0B7A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B7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B7A75"/>
                </a:solidFill>
                <a:latin typeface="Microsoft YaHei"/>
                <a:ea typeface="Microsoft YaHei"/>
                <a:cs typeface="Microsoft YaHei"/>
              </a:rPr>
              <a:t>常规模式</a:t>
            </a:r>
          </a:p>
        </p:txBody>
      </p:sp>
      <p:sp>
        <p:nvSpPr>
          <p:cNvPr id="5" name="normal-default">
            <a:extLst xmlns:a="http://schemas.openxmlformats.org/drawingml/2006/main">
              <a:ext uri="{FF2B5EF4-FFF2-40B4-BE49-F238E27FC236}">
                <a16:creationId xmlns:a16="http://schemas.microsoft.com/office/drawing/2014/main" id="{DEA11AFE-61EC-4AF9-8387-4345A2B3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rPr>
              <a:t>默认 · 单 Session</a:t>
            </a:r>
          </a:p>
        </p:txBody>
      </p:sp>
      <p:sp>
        <p:nvSpPr>
          <p:cNvPr id="6" name="normal-clarify">
            <a:extLst xmlns:a="http://schemas.openxmlformats.org/drawingml/2006/main">
              <a:ext uri="{FF2B5EF4-FFF2-40B4-BE49-F238E27FC236}">
                <a16:creationId xmlns:a16="http://schemas.microsoft.com/office/drawing/2014/main" id="{77BC698A-44BE-41A6-A710-65A3DD6AB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924050"/>
            <a:ext cx="17145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9F7F4"/>
          </a:solidFill>
          <a:ln xmlns:a="http://schemas.openxmlformats.org/drawingml/2006/main" w="19050">
            <a:solidFill>
              <a:srgbClr val="0B7A75"/>
            </a:solidFill>
            <a:prstDash val="solid"/>
          </a:ln>
        </p:spPr>
      </p:sp>
      <p:sp>
        <p:nvSpPr>
          <p:cNvPr id="7" name="normal-clarify-title">
            <a:extLst xmlns:a="http://schemas.openxmlformats.org/drawingml/2006/main">
              <a:ext uri="{FF2B5EF4-FFF2-40B4-BE49-F238E27FC236}">
                <a16:creationId xmlns:a16="http://schemas.microsoft.com/office/drawing/2014/main" id="{69409792-5735-471F-B118-5A73C542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105025"/>
            <a:ext cx="1562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rPr>
              <a:t>按需澄清</a:t>
            </a:r>
          </a:p>
        </p:txBody>
      </p:sp>
      <p:sp>
        <p:nvSpPr>
          <p:cNvPr id="8" name="normal-clarify-subtitle">
            <a:extLst xmlns:a="http://schemas.openxmlformats.org/drawingml/2006/main">
              <a:ext uri="{FF2B5EF4-FFF2-40B4-BE49-F238E27FC236}">
                <a16:creationId xmlns:a16="http://schemas.microsoft.com/office/drawing/2014/main" id="{125DAEC2-53EB-4BEE-B566-152DC9085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505075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rPr>
              <a:t>关键取舍</a:t>
            </a:r>
          </a:p>
        </p:txBody>
      </p:sp>
      <p:sp>
        <p:nvSpPr>
          <p:cNvPr id="9" name="normal-build">
            <a:extLst xmlns:a="http://schemas.openxmlformats.org/drawingml/2006/main">
              <a:ext uri="{FF2B5EF4-FFF2-40B4-BE49-F238E27FC236}">
                <a16:creationId xmlns:a16="http://schemas.microsoft.com/office/drawing/2014/main" id="{07E437A8-C97F-42D8-BE94-87E6C445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924050"/>
            <a:ext cx="17145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9F7F4"/>
          </a:solidFill>
          <a:ln xmlns:a="http://schemas.openxmlformats.org/drawingml/2006/main" w="19050">
            <a:solidFill>
              <a:srgbClr val="0B7A75"/>
            </a:solidFill>
            <a:prstDash val="solid"/>
          </a:ln>
        </p:spPr>
      </p:sp>
      <p:sp>
        <p:nvSpPr>
          <p:cNvPr id="10" name="normal-build-title">
            <a:extLst xmlns:a="http://schemas.openxmlformats.org/drawingml/2006/main">
              <a:ext uri="{FF2B5EF4-FFF2-40B4-BE49-F238E27FC236}">
                <a16:creationId xmlns:a16="http://schemas.microsoft.com/office/drawing/2014/main" id="{2FE16A18-2986-4719-B919-2A8199BD1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105025"/>
            <a:ext cx="1562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rPr>
              <a:t>设计与实现</a:t>
            </a:r>
          </a:p>
        </p:txBody>
      </p:sp>
      <p:sp>
        <p:nvSpPr>
          <p:cNvPr id="11" name="normal-build-subtitle">
            <a:extLst xmlns:a="http://schemas.openxmlformats.org/drawingml/2006/main">
              <a:ext uri="{FF2B5EF4-FFF2-40B4-BE49-F238E27FC236}">
                <a16:creationId xmlns:a16="http://schemas.microsoft.com/office/drawing/2014/main" id="{F8C81434-397D-41BC-811F-051D58C63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505075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rPr>
              <a:t>一个 Session 负责</a:t>
            </a:r>
          </a:p>
        </p:txBody>
      </p:sp>
      <p:sp>
        <p:nvSpPr>
          <p:cNvPr id="12" name="normal-verify">
            <a:extLst xmlns:a="http://schemas.openxmlformats.org/drawingml/2006/main">
              <a:ext uri="{FF2B5EF4-FFF2-40B4-BE49-F238E27FC236}">
                <a16:creationId xmlns:a16="http://schemas.microsoft.com/office/drawing/2014/main" id="{2F656823-A7D5-4404-89BB-527EE1325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24050"/>
            <a:ext cx="17145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9F7F4"/>
          </a:solidFill>
          <a:ln xmlns:a="http://schemas.openxmlformats.org/drawingml/2006/main" w="19050">
            <a:solidFill>
              <a:srgbClr val="0B7A75"/>
            </a:solidFill>
            <a:prstDash val="solid"/>
          </a:ln>
        </p:spPr>
      </p:sp>
      <p:sp>
        <p:nvSpPr>
          <p:cNvPr id="13" name="normal-verify-title">
            <a:extLst xmlns:a="http://schemas.openxmlformats.org/drawingml/2006/main">
              <a:ext uri="{FF2B5EF4-FFF2-40B4-BE49-F238E27FC236}">
                <a16:creationId xmlns:a16="http://schemas.microsoft.com/office/drawing/2014/main" id="{816F0852-E7E2-494E-A9E5-181360879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105025"/>
            <a:ext cx="1562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rPr>
              <a:t>针对性验证</a:t>
            </a:r>
          </a:p>
        </p:txBody>
      </p:sp>
      <p:sp>
        <p:nvSpPr>
          <p:cNvPr id="14" name="normal-verify-subtitle">
            <a:extLst xmlns:a="http://schemas.openxmlformats.org/drawingml/2006/main">
              <a:ext uri="{FF2B5EF4-FFF2-40B4-BE49-F238E27FC236}">
                <a16:creationId xmlns:a16="http://schemas.microsoft.com/office/drawing/2014/main" id="{D16E492D-3CC6-4FB4-984B-BF8F6BCA8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505075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rPr>
              <a:t>记录真实证据</a:t>
            </a:r>
          </a:p>
        </p:txBody>
      </p:sp>
      <p:sp>
        <p:nvSpPr>
          <p:cNvPr id="15" name="normal-deliver">
            <a:extLst xmlns:a="http://schemas.openxmlformats.org/drawingml/2006/main">
              <a:ext uri="{FF2B5EF4-FFF2-40B4-BE49-F238E27FC236}">
                <a16:creationId xmlns:a16="http://schemas.microsoft.com/office/drawing/2014/main" id="{0BE3FCC6-49A6-47EC-97B9-1234A47E5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24050"/>
            <a:ext cx="17145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9F7F4"/>
          </a:solidFill>
          <a:ln xmlns:a="http://schemas.openxmlformats.org/drawingml/2006/main" w="19050">
            <a:solidFill>
              <a:srgbClr val="0B7A75"/>
            </a:solidFill>
            <a:prstDash val="solid"/>
          </a:ln>
        </p:spPr>
      </p:sp>
      <p:sp>
        <p:nvSpPr>
          <p:cNvPr id="16" name="normal-deliver-title">
            <a:extLst xmlns:a="http://schemas.openxmlformats.org/drawingml/2006/main">
              <a:ext uri="{FF2B5EF4-FFF2-40B4-BE49-F238E27FC236}">
                <a16:creationId xmlns:a16="http://schemas.microsoft.com/office/drawing/2014/main" id="{76313786-B118-4982-9246-76D1FF4FC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105025"/>
            <a:ext cx="1562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17" name="normal-deliver-subtitle">
            <a:extLst xmlns:a="http://schemas.openxmlformats.org/drawingml/2006/main">
              <a:ext uri="{FF2B5EF4-FFF2-40B4-BE49-F238E27FC236}">
                <a16:creationId xmlns:a16="http://schemas.microsoft.com/office/drawing/2014/main" id="{E4B1AAEC-B7E8-4D0F-BBEC-3BB501F16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505075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rPr>
              <a:t>区分完成状态</a:t>
            </a:r>
          </a:p>
        </p:txBody>
      </p:sp>
      <p:sp>
        <p:nvSpPr>
          <p:cNvPr id="21" name="divider-362">
            <a:extLst xmlns:a="http://schemas.openxmlformats.org/drawingml/2006/main">
              <a:ext uri="{FF2B5EF4-FFF2-40B4-BE49-F238E27FC236}">
                <a16:creationId xmlns:a16="http://schemas.microsoft.com/office/drawing/2014/main" id="{01BE94D5-1804-42E3-AAD1-3AF5E94B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orchestrator-label">
            <a:extLst xmlns:a="http://schemas.openxmlformats.org/drawingml/2006/main">
              <a:ext uri="{FF2B5EF4-FFF2-40B4-BE49-F238E27FC236}">
                <a16:creationId xmlns:a16="http://schemas.microsoft.com/office/drawing/2014/main" id="{130C0FB3-7F43-4087-B81F-DD47F30F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275DA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275DA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275DA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275DA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275DA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275DA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275DA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275DA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275DA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275DA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75D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75DAD"/>
                </a:solidFill>
                <a:latin typeface="Microsoft YaHei"/>
                <a:ea typeface="Microsoft YaHei"/>
                <a:cs typeface="Microsoft YaHei"/>
              </a:rPr>
              <a:t>指挥模式</a:t>
            </a:r>
          </a:p>
        </p:txBody>
      </p:sp>
      <p:sp>
        <p:nvSpPr>
          <p:cNvPr id="23" name="orchestrator-explicit">
            <a:extLst xmlns:a="http://schemas.openxmlformats.org/drawingml/2006/main">
              <a:ext uri="{FF2B5EF4-FFF2-40B4-BE49-F238E27FC236}">
                <a16:creationId xmlns:a16="http://schemas.microsoft.com/office/drawing/2014/main" id="{593609BD-075A-4094-88BB-BC32F53B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rPr>
              <a:t>显式调用</a:t>
            </a:r>
          </a:p>
        </p:txBody>
      </p:sp>
      <p:sp>
        <p:nvSpPr>
          <p:cNvPr id="24" name="orchestrator-requirements">
            <a:extLst xmlns:a="http://schemas.openxmlformats.org/drawingml/2006/main">
              <a:ext uri="{FF2B5EF4-FFF2-40B4-BE49-F238E27FC236}">
                <a16:creationId xmlns:a16="http://schemas.microsoft.com/office/drawing/2014/main" id="{A879212A-FB41-4F22-A995-F8FAF8F49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914775"/>
            <a:ext cx="1571625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AF2FD"/>
          </a:solidFill>
          <a:ln xmlns:a="http://schemas.openxmlformats.org/drawingml/2006/main" w="19050">
            <a:solidFill>
              <a:srgbClr val="275DAD"/>
            </a:solidFill>
            <a:prstDash val="solid"/>
          </a:ln>
        </p:spPr>
      </p:sp>
      <p:sp>
        <p:nvSpPr>
          <p:cNvPr id="25" name="orchestrator-requirements-title">
            <a:extLst xmlns:a="http://schemas.openxmlformats.org/drawingml/2006/main">
              <a:ext uri="{FF2B5EF4-FFF2-40B4-BE49-F238E27FC236}">
                <a16:creationId xmlns:a16="http://schemas.microsoft.com/office/drawing/2014/main" id="{81E76064-56BB-4051-8731-32824DF6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095750"/>
            <a:ext cx="14192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rPr>
              <a:t>需求收敛</a:t>
            </a:r>
          </a:p>
        </p:txBody>
      </p:sp>
      <p:sp>
        <p:nvSpPr>
          <p:cNvPr id="26" name="orchestrator-requirements-subtitle">
            <a:extLst xmlns:a="http://schemas.openxmlformats.org/drawingml/2006/main">
              <a:ext uri="{FF2B5EF4-FFF2-40B4-BE49-F238E27FC236}">
                <a16:creationId xmlns:a16="http://schemas.microsoft.com/office/drawing/2014/main" id="{2B13BC35-D988-4D24-B5A3-AC0FDDE3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95800"/>
            <a:ext cx="1419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rPr>
              <a:t>目标与验收</a:t>
            </a:r>
          </a:p>
        </p:txBody>
      </p:sp>
      <p:sp>
        <p:nvSpPr>
          <p:cNvPr id="27" name="orchestrator-architecture">
            <a:extLst xmlns:a="http://schemas.openxmlformats.org/drawingml/2006/main">
              <a:ext uri="{FF2B5EF4-FFF2-40B4-BE49-F238E27FC236}">
                <a16:creationId xmlns:a16="http://schemas.microsoft.com/office/drawing/2014/main" id="{58635750-7FA8-4C3F-85F2-8005D2A4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914775"/>
            <a:ext cx="1571625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AF2FD"/>
          </a:solidFill>
          <a:ln xmlns:a="http://schemas.openxmlformats.org/drawingml/2006/main" w="19050">
            <a:solidFill>
              <a:srgbClr val="275DAD"/>
            </a:solidFill>
            <a:prstDash val="solid"/>
          </a:ln>
        </p:spPr>
      </p:sp>
      <p:sp>
        <p:nvSpPr>
          <p:cNvPr id="28" name="orchestrator-architecture-title">
            <a:extLst xmlns:a="http://schemas.openxmlformats.org/drawingml/2006/main">
              <a:ext uri="{FF2B5EF4-FFF2-40B4-BE49-F238E27FC236}">
                <a16:creationId xmlns:a16="http://schemas.microsoft.com/office/drawing/2014/main" id="{BB609E83-E99F-4B9E-8A62-5C496DA01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095750"/>
            <a:ext cx="14192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rPr>
              <a:t>架构与拆分</a:t>
            </a:r>
          </a:p>
        </p:txBody>
      </p:sp>
      <p:sp>
        <p:nvSpPr>
          <p:cNvPr id="29" name="orchestrator-architecture-subtitle">
            <a:extLst xmlns:a="http://schemas.openxmlformats.org/drawingml/2006/main">
              <a:ext uri="{FF2B5EF4-FFF2-40B4-BE49-F238E27FC236}">
                <a16:creationId xmlns:a16="http://schemas.microsoft.com/office/drawing/2014/main" id="{BFE08DA8-92BA-478A-89D8-43F52C14E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495800"/>
            <a:ext cx="1419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rPr>
              <a:t>接口与依赖</a:t>
            </a:r>
          </a:p>
        </p:txBody>
      </p:sp>
      <p:sp>
        <p:nvSpPr>
          <p:cNvPr id="30" name="orchestrator-iteration">
            <a:extLst xmlns:a="http://schemas.openxmlformats.org/drawingml/2006/main">
              <a:ext uri="{FF2B5EF4-FFF2-40B4-BE49-F238E27FC236}">
                <a16:creationId xmlns:a16="http://schemas.microsoft.com/office/drawing/2014/main" id="{52AFDBC6-E8A2-4DB7-8D3C-315C4B21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14775"/>
            <a:ext cx="1571625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AF2FD"/>
          </a:solidFill>
          <a:ln xmlns:a="http://schemas.openxmlformats.org/drawingml/2006/main" w="19050">
            <a:solidFill>
              <a:srgbClr val="275DAD"/>
            </a:solidFill>
            <a:prstDash val="solid"/>
          </a:ln>
        </p:spPr>
      </p:sp>
      <p:sp>
        <p:nvSpPr>
          <p:cNvPr id="31" name="orchestrator-iteration-title">
            <a:extLst xmlns:a="http://schemas.openxmlformats.org/drawingml/2006/main">
              <a:ext uri="{FF2B5EF4-FFF2-40B4-BE49-F238E27FC236}">
                <a16:creationId xmlns:a16="http://schemas.microsoft.com/office/drawing/2014/main" id="{C1941C7E-4BB3-41E8-B0EA-A3E47B1C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095750"/>
            <a:ext cx="14192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rPr>
              <a:t>迭代协作</a:t>
            </a:r>
          </a:p>
        </p:txBody>
      </p:sp>
      <p:sp>
        <p:nvSpPr>
          <p:cNvPr id="32" name="orchestrator-iteration-subtitle">
            <a:extLst xmlns:a="http://schemas.openxmlformats.org/drawingml/2006/main">
              <a:ext uri="{FF2B5EF4-FFF2-40B4-BE49-F238E27FC236}">
                <a16:creationId xmlns:a16="http://schemas.microsoft.com/office/drawing/2014/main" id="{F6E981E3-7EB3-451C-9325-DD5AC0A88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495800"/>
            <a:ext cx="1419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rPr>
              <a:t>持续集成</a:t>
            </a:r>
          </a:p>
        </p:txBody>
      </p:sp>
      <p:sp>
        <p:nvSpPr>
          <p:cNvPr id="33" name="orchestrator-acceptance">
            <a:extLst xmlns:a="http://schemas.openxmlformats.org/drawingml/2006/main">
              <a:ext uri="{FF2B5EF4-FFF2-40B4-BE49-F238E27FC236}">
                <a16:creationId xmlns:a16="http://schemas.microsoft.com/office/drawing/2014/main" id="{7BA2D6F1-5E0F-432C-8DCE-57ADAFB0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914775"/>
            <a:ext cx="1571625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AF2FD"/>
          </a:solidFill>
          <a:ln xmlns:a="http://schemas.openxmlformats.org/drawingml/2006/main" w="19050">
            <a:solidFill>
              <a:srgbClr val="275DAD"/>
            </a:solidFill>
            <a:prstDash val="solid"/>
          </a:ln>
        </p:spPr>
      </p:sp>
      <p:sp>
        <p:nvSpPr>
          <p:cNvPr id="34" name="orchestrator-acceptance-title">
            <a:extLst xmlns:a="http://schemas.openxmlformats.org/drawingml/2006/main">
              <a:ext uri="{FF2B5EF4-FFF2-40B4-BE49-F238E27FC236}">
                <a16:creationId xmlns:a16="http://schemas.microsoft.com/office/drawing/2014/main" id="{E6BFD5D3-29DA-4292-A13F-758F7B32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095750"/>
            <a:ext cx="14192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rPr>
              <a:t>联合验收</a:t>
            </a:r>
          </a:p>
        </p:txBody>
      </p:sp>
      <p:sp>
        <p:nvSpPr>
          <p:cNvPr id="35" name="orchestrator-acceptance-subtitle">
            <a:extLst xmlns:a="http://schemas.openxmlformats.org/drawingml/2006/main">
              <a:ext uri="{FF2B5EF4-FFF2-40B4-BE49-F238E27FC236}">
                <a16:creationId xmlns:a16="http://schemas.microsoft.com/office/drawing/2014/main" id="{F89D695D-14F6-478D-8F9C-8DB463F1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495800"/>
            <a:ext cx="1419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rPr>
              <a:t>端到端证据</a:t>
            </a:r>
          </a:p>
        </p:txBody>
      </p:sp>
      <p:sp>
        <p:nvSpPr>
          <p:cNvPr id="36" name="orchestrator-delivery">
            <a:extLst xmlns:a="http://schemas.openxmlformats.org/drawingml/2006/main">
              <a:ext uri="{FF2B5EF4-FFF2-40B4-BE49-F238E27FC236}">
                <a16:creationId xmlns:a16="http://schemas.microsoft.com/office/drawing/2014/main" id="{25DDF4F4-DA80-42D5-A8E7-73E65689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914775"/>
            <a:ext cx="1571625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AF2FD"/>
          </a:solidFill>
          <a:ln xmlns:a="http://schemas.openxmlformats.org/drawingml/2006/main" w="19050">
            <a:solidFill>
              <a:srgbClr val="275DAD"/>
            </a:solidFill>
            <a:prstDash val="solid"/>
          </a:ln>
        </p:spPr>
      </p:sp>
      <p:sp>
        <p:nvSpPr>
          <p:cNvPr id="37" name="orchestrator-delivery-title">
            <a:extLst xmlns:a="http://schemas.openxmlformats.org/drawingml/2006/main">
              <a:ext uri="{FF2B5EF4-FFF2-40B4-BE49-F238E27FC236}">
                <a16:creationId xmlns:a16="http://schemas.microsoft.com/office/drawing/2014/main" id="{ACDC46FC-2D15-44D5-9B5F-97CEED82C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095750"/>
            <a:ext cx="14192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rPr>
              <a:t>交付收口</a:t>
            </a:r>
          </a:p>
        </p:txBody>
      </p:sp>
      <p:sp>
        <p:nvSpPr>
          <p:cNvPr id="38" name="orchestrator-delivery-subtitle">
            <a:extLst xmlns:a="http://schemas.openxmlformats.org/drawingml/2006/main">
              <a:ext uri="{FF2B5EF4-FFF2-40B4-BE49-F238E27FC236}">
                <a16:creationId xmlns:a16="http://schemas.microsoft.com/office/drawing/2014/main" id="{9F01F75B-FA55-4960-85FD-56051FFA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495800"/>
            <a:ext cx="1419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rPr>
              <a:t>PR 与授权</a:t>
            </a:r>
          </a:p>
        </p:txBody>
      </p:sp>
      <p:sp>
        <p:nvSpPr>
          <p:cNvPr id="43" name="repair-note">
            <a:extLst xmlns:a="http://schemas.openxmlformats.org/drawingml/2006/main">
              <a:ext uri="{FF2B5EF4-FFF2-40B4-BE49-F238E27FC236}">
                <a16:creationId xmlns:a16="http://schemas.microsoft.com/office/drawing/2014/main" id="{A901B608-6C73-49B9-A7A3-02166F0F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518160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rPr>
              <a:t>联合验收发现问题时，返回相应开发环节修复</a:t>
            </a:r>
          </a:p>
        </p:txBody>
      </p:sp>
      <p:sp>
        <p:nvSpPr>
          <p:cNvPr id="44" name="divider-621">
            <a:extLst xmlns:a="http://schemas.openxmlformats.org/drawingml/2006/main">
              <a:ext uri="{FF2B5EF4-FFF2-40B4-BE49-F238E27FC236}">
                <a16:creationId xmlns:a16="http://schemas.microsoft.com/office/drawing/2014/main" id="{3CFB1D0E-6096-4CBF-8CDF-F0AF9516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15025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shared-constraints">
            <a:extLst xmlns:a="http://schemas.openxmlformats.org/drawingml/2006/main">
              <a:ext uri="{FF2B5EF4-FFF2-40B4-BE49-F238E27FC236}">
                <a16:creationId xmlns:a16="http://schemas.microsoft.com/office/drawing/2014/main" id="{AC00CF7D-69E0-4512-A725-CEEB0ACF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67425"/>
            <a:ext cx="10820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rPr>
              <a:t>共同约束：Git 隔离、安全边界、真实验证、授权交付。任务状态只写一处。</a:t>
            </a:r>
          </a:p>
        </p:txBody>
      </p:sp>
    </p:spTree>
    <p:extLst>
      <p:ext uri="{BB962C8B-B14F-4D97-AF65-F5344CB8AC3E}">
        <p14:creationId xmlns:p14="http://schemas.microsoft.com/office/powerpoint/2010/main" val="12056861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4AF0C96-1B29-4BBB-886B-AA8542993AD4}"/>
              </a:ext>
            </a:extLst>
          </p:cNvPr>
          <p:cNvCxnSpPr>
            <a:stCxn xmlns:a="http://schemas.openxmlformats.org/drawingml/2006/main" id="31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7334250" y="5381625"/>
            <a:ext cx="13811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4657A"/>
            </a:solidFill>
            <a:prstDash val="solid"/>
            <a:tailEnd type="triangle" w="sm" len="sm"/>
          </a:ln>
        </p:spPr>
      </p:cxnSp>
      <p:cxnSp>
        <p:nvCxn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1207B28-4448-4D4A-BDFD-0DC3B2138280}"/>
              </a:ext>
            </a:extLst>
          </p:cNvPr>
          <p:cNvCxnSpPr>
            <a:stCxn xmlns:a="http://schemas.openxmlformats.org/drawingml/2006/main" id="28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3476625" y="5381625"/>
            <a:ext cx="13811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4657A"/>
            </a:solidFill>
            <a:prstDash val="solid"/>
            <a:tailEnd type="triangle" w="sm" len="sm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CED36F-675D-4745-B5CF-3AA2945EC35F}"/>
              </a:ext>
            </a:extLst>
          </p:cNvPr>
          <p:cNvCxnSpPr>
            <a:stCxn xmlns:a="http://schemas.openxmlformats.org/drawingml/2006/main" id="17" idx="2"/>
            <a:endCxn xmlns:a="http://schemas.openxmlformats.org/drawingml/2006/main" id="8" idx="2"/>
          </p:cNvCxnSpPr>
          <p:nvPr/>
        </p:nvCxnSpPr>
        <p:spPr>
          <a:xfrm xmlns:a="http://schemas.openxmlformats.org/drawingml/2006/main" flipH="1">
            <a:off x="3762375" y="3209925"/>
            <a:ext cx="65722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B65E17"/>
            </a:solidFill>
            <a:prstDash val="solid"/>
            <a:tailEnd type="triangle" w="sm" len="sm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201100-395E-4DA8-8D28-2AB598C0C2DE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953500" y="27336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75DAD"/>
            </a:solidFill>
            <a:prstDash val="solid"/>
            <a:tailEnd type="triangle" w="sm" len="sm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66915A-7140-4C8D-B8B9-B476F18EE8A8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6762750" y="27336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75DAD"/>
            </a:solidFill>
            <a:prstDash val="solid"/>
            <a:tailEnd type="triangle" w="sm" len="sm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70E389-8BEF-4675-8928-456F64208525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572000" y="27336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75DAD"/>
            </a:solidFill>
            <a:prstDash val="solid"/>
            <a:tailEnd type="triangle" w="sm" len="sm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2BBDFF-D9AB-49A3-8022-8FEFC8D78644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381250" y="27336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75DAD"/>
            </a:solidFill>
            <a:prstDash val="solid"/>
            <a:tailEnd type="triangle" w="sm" len="sm"/>
          </a:ln>
        </p:spPr>
      </p:cxnSp>
      <p:sp>
        <p:nvSpPr>
          <p:cNvPr id="41" name="title">
            <a:extLst xmlns:a="http://schemas.openxmlformats.org/drawingml/2006/main">
              <a:ext uri="{FF2B5EF4-FFF2-40B4-BE49-F238E27FC236}">
                <a16:creationId xmlns:a16="http://schemas.microsoft.com/office/drawing/2014/main" id="{4C317678-2BF6-446D-8B45-8173A1283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971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rPr>
              <a:t>指挥模式：迭代执行与验收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D1188E1-C266-4CF8-A093-41AEB5736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rPr>
              <a:t>总指挥贯穿全程；执行 Session 在明确依赖下自主推进</a:t>
            </a:r>
          </a:p>
        </p:txBody>
      </p:sp>
      <p:sp>
        <p:nvSpPr>
          <p:cNvPr id="3" name="divider-169">
            <a:extLst xmlns:a="http://schemas.openxmlformats.org/drawingml/2006/main">
              <a:ext uri="{FF2B5EF4-FFF2-40B4-BE49-F238E27FC236}">
                <a16:creationId xmlns:a16="http://schemas.microsoft.com/office/drawing/2014/main" id="{75524479-48E4-4BBB-B099-B2F055A53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iteration-label">
            <a:extLst xmlns:a="http://schemas.openxmlformats.org/drawingml/2006/main">
              <a:ext uri="{FF2B5EF4-FFF2-40B4-BE49-F238E27FC236}">
                <a16:creationId xmlns:a16="http://schemas.microsoft.com/office/drawing/2014/main" id="{4A0CCA1A-88D0-4D2E-BCAA-8DD55003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333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275DA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75DA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75DA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75DA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75DA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75DA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75DA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75DA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75DA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75DA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75D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75DAD"/>
                </a:solidFill>
                <a:latin typeface="Microsoft YaHei"/>
                <a:ea typeface="Microsoft YaHei"/>
                <a:cs typeface="Microsoft YaHei"/>
              </a:rPr>
              <a:t>迭代执行循环</a:t>
            </a:r>
          </a:p>
        </p:txBody>
      </p:sp>
      <p:sp>
        <p:nvSpPr>
          <p:cNvPr id="5" name="dispatch">
            <a:extLst xmlns:a="http://schemas.openxmlformats.org/drawingml/2006/main">
              <a:ext uri="{FF2B5EF4-FFF2-40B4-BE49-F238E27FC236}">
                <a16:creationId xmlns:a16="http://schemas.microsoft.com/office/drawing/2014/main" id="{5D0A4F38-5067-47D9-A857-446CE3F8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57425"/>
            <a:ext cx="161925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EAF2FD"/>
          </a:solidFill>
          <a:ln xmlns:a="http://schemas.openxmlformats.org/drawingml/2006/main" w="19050">
            <a:solidFill>
              <a:srgbClr val="275DAD"/>
            </a:solidFill>
            <a:prstDash val="solid"/>
          </a:ln>
        </p:spPr>
      </p:sp>
      <p:sp>
        <p:nvSpPr>
          <p:cNvPr id="6" name="dispatch-title">
            <a:extLst xmlns:a="http://schemas.openxmlformats.org/drawingml/2006/main">
              <a:ext uri="{FF2B5EF4-FFF2-40B4-BE49-F238E27FC236}">
                <a16:creationId xmlns:a16="http://schemas.microsoft.com/office/drawing/2014/main" id="{04C86CF0-A2FA-48D0-B8DB-1DE56B16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38400"/>
            <a:ext cx="14668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rPr>
              <a:t>简短派单</a:t>
            </a:r>
          </a:p>
        </p:txBody>
      </p:sp>
      <p:sp>
        <p:nvSpPr>
          <p:cNvPr id="7" name="dispatch-subtitle">
            <a:extLst xmlns:a="http://schemas.openxmlformats.org/drawingml/2006/main">
              <a:ext uri="{FF2B5EF4-FFF2-40B4-BE49-F238E27FC236}">
                <a16:creationId xmlns:a16="http://schemas.microsoft.com/office/drawing/2014/main" id="{1D2C9661-68A4-4F61-8CB0-41833D13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rPr>
              <a:t>五项契约</a:t>
            </a:r>
          </a:p>
        </p:txBody>
      </p:sp>
      <p:sp>
        <p:nvSpPr>
          <p:cNvPr id="8" name="implementation">
            <a:extLst xmlns:a="http://schemas.openxmlformats.org/drawingml/2006/main">
              <a:ext uri="{FF2B5EF4-FFF2-40B4-BE49-F238E27FC236}">
                <a16:creationId xmlns:a16="http://schemas.microsoft.com/office/drawing/2014/main" id="{53191EC2-01F6-42AE-90AE-50715862F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57425"/>
            <a:ext cx="161925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EAF2FD"/>
          </a:solidFill>
          <a:ln xmlns:a="http://schemas.openxmlformats.org/drawingml/2006/main" w="19050">
            <a:solidFill>
              <a:srgbClr val="275DAD"/>
            </a:solidFill>
            <a:prstDash val="solid"/>
          </a:ln>
        </p:spPr>
      </p:sp>
      <p:sp>
        <p:nvSpPr>
          <p:cNvPr id="9" name="implementation-title">
            <a:extLst xmlns:a="http://schemas.openxmlformats.org/drawingml/2006/main">
              <a:ext uri="{FF2B5EF4-FFF2-40B4-BE49-F238E27FC236}">
                <a16:creationId xmlns:a16="http://schemas.microsoft.com/office/drawing/2014/main" id="{3D2A01F5-5232-4768-B9FA-3E21598AB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38400"/>
            <a:ext cx="14668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rPr>
              <a:t>独立实现</a:t>
            </a:r>
          </a:p>
        </p:txBody>
      </p:sp>
      <p:sp>
        <p:nvSpPr>
          <p:cNvPr id="10" name="implementation-subtitle">
            <a:extLst xmlns:a="http://schemas.openxmlformats.org/drawingml/2006/main">
              <a:ext uri="{FF2B5EF4-FFF2-40B4-BE49-F238E27FC236}">
                <a16:creationId xmlns:a16="http://schemas.microsoft.com/office/drawing/2014/main" id="{414A4D09-9E0F-4D60-8B8C-7754FC3E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384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rPr>
              <a:t>分支 / Worktree</a:t>
            </a:r>
          </a:p>
        </p:txBody>
      </p:sp>
      <p:sp>
        <p:nvSpPr>
          <p:cNvPr id="11" name="integration">
            <a:extLst xmlns:a="http://schemas.openxmlformats.org/drawingml/2006/main">
              <a:ext uri="{FF2B5EF4-FFF2-40B4-BE49-F238E27FC236}">
                <a16:creationId xmlns:a16="http://schemas.microsoft.com/office/drawing/2014/main" id="{BA733D64-A959-4488-B9D5-7BD7CAB5F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57425"/>
            <a:ext cx="161925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EAF2FD"/>
          </a:solidFill>
          <a:ln xmlns:a="http://schemas.openxmlformats.org/drawingml/2006/main" w="19050">
            <a:solidFill>
              <a:srgbClr val="275DAD"/>
            </a:solidFill>
            <a:prstDash val="solid"/>
          </a:ln>
        </p:spPr>
      </p:sp>
      <p:sp>
        <p:nvSpPr>
          <p:cNvPr id="12" name="integration-title">
            <a:extLst xmlns:a="http://schemas.openxmlformats.org/drawingml/2006/main">
              <a:ext uri="{FF2B5EF4-FFF2-40B4-BE49-F238E27FC236}">
                <a16:creationId xmlns:a16="http://schemas.microsoft.com/office/drawing/2014/main" id="{49B7A6A8-1093-4515-9243-11865CD7A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38400"/>
            <a:ext cx="14668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rPr>
              <a:t>增量集成</a:t>
            </a:r>
          </a:p>
        </p:txBody>
      </p:sp>
      <p:sp>
        <p:nvSpPr>
          <p:cNvPr id="13" name="integration-subtitle">
            <a:extLst xmlns:a="http://schemas.openxmlformats.org/drawingml/2006/main">
              <a:ext uri="{FF2B5EF4-FFF2-40B4-BE49-F238E27FC236}">
                <a16:creationId xmlns:a16="http://schemas.microsoft.com/office/drawing/2014/main" id="{5DFDD13B-9573-4DEC-BCA7-3B2F81F5B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384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rPr>
              <a:t>最小可运行链路</a:t>
            </a:r>
          </a:p>
        </p:txBody>
      </p:sp>
      <p:sp>
        <p:nvSpPr>
          <p:cNvPr id="14" name="verification">
            <a:extLst xmlns:a="http://schemas.openxmlformats.org/drawingml/2006/main">
              <a:ext uri="{FF2B5EF4-FFF2-40B4-BE49-F238E27FC236}">
                <a16:creationId xmlns:a16="http://schemas.microsoft.com/office/drawing/2014/main" id="{312CADBD-2D92-47E8-9FB5-DCCE76147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57425"/>
            <a:ext cx="161925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EAF2FD"/>
          </a:solidFill>
          <a:ln xmlns:a="http://schemas.openxmlformats.org/drawingml/2006/main" w="19050">
            <a:solidFill>
              <a:srgbClr val="275DAD"/>
            </a:solidFill>
            <a:prstDash val="solid"/>
          </a:ln>
        </p:spPr>
      </p:sp>
      <p:sp>
        <p:nvSpPr>
          <p:cNvPr id="15" name="verification-title">
            <a:extLst xmlns:a="http://schemas.openxmlformats.org/drawingml/2006/main">
              <a:ext uri="{FF2B5EF4-FFF2-40B4-BE49-F238E27FC236}">
                <a16:creationId xmlns:a16="http://schemas.microsoft.com/office/drawing/2014/main" id="{EAD2DD54-B070-4321-9989-4F8E29093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438400"/>
            <a:ext cx="14668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rPr>
              <a:t>针对性验证</a:t>
            </a:r>
          </a:p>
        </p:txBody>
      </p:sp>
      <p:sp>
        <p:nvSpPr>
          <p:cNvPr id="16" name="verification-subtitle">
            <a:extLst xmlns:a="http://schemas.openxmlformats.org/drawingml/2006/main">
              <a:ext uri="{FF2B5EF4-FFF2-40B4-BE49-F238E27FC236}">
                <a16:creationId xmlns:a16="http://schemas.microsoft.com/office/drawing/2014/main" id="{E0E4005D-1D16-4646-9237-CD1B65E6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8384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rPr>
              <a:t>绑定提交版本</a:t>
            </a:r>
          </a:p>
        </p:txBody>
      </p:sp>
      <p:sp>
        <p:nvSpPr>
          <p:cNvPr id="17" name="repair">
            <a:extLst xmlns:a="http://schemas.openxmlformats.org/drawingml/2006/main">
              <a:ext uri="{FF2B5EF4-FFF2-40B4-BE49-F238E27FC236}">
                <a16:creationId xmlns:a16="http://schemas.microsoft.com/office/drawing/2014/main" id="{A47FF5B3-4D28-4498-9400-6800F424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57425"/>
            <a:ext cx="161925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2E6"/>
          </a:solidFill>
          <a:ln xmlns:a="http://schemas.openxmlformats.org/drawingml/2006/main" w="19050">
            <a:solidFill>
              <a:srgbClr val="B65E17"/>
            </a:solidFill>
            <a:prstDash val="solid"/>
          </a:ln>
        </p:spPr>
      </p:sp>
      <p:sp>
        <p:nvSpPr>
          <p:cNvPr id="18" name="repair-title">
            <a:extLst xmlns:a="http://schemas.openxmlformats.org/drawingml/2006/main">
              <a:ext uri="{FF2B5EF4-FFF2-40B4-BE49-F238E27FC236}">
                <a16:creationId xmlns:a16="http://schemas.microsoft.com/office/drawing/2014/main" id="{B9A9E983-D91A-438D-99AC-D7234A5D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38400"/>
            <a:ext cx="14668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rPr>
              <a:t>问题修复</a:t>
            </a:r>
          </a:p>
        </p:txBody>
      </p:sp>
      <p:sp>
        <p:nvSpPr>
          <p:cNvPr id="19" name="repair-subtitle">
            <a:extLst xmlns:a="http://schemas.openxmlformats.org/drawingml/2006/main">
              <a:ext uri="{FF2B5EF4-FFF2-40B4-BE49-F238E27FC236}">
                <a16:creationId xmlns:a16="http://schemas.microsoft.com/office/drawing/2014/main" id="{A28C3F32-764F-400E-81E1-0A1AC8CEE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8384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rPr>
              <a:t>回到对应环节</a:t>
            </a:r>
          </a:p>
        </p:txBody>
      </p:sp>
      <p:sp>
        <p:nvSpPr>
          <p:cNvPr id="25" name="loop-note">
            <a:extLst xmlns:a="http://schemas.openxmlformats.org/drawingml/2006/main">
              <a:ext uri="{FF2B5EF4-FFF2-40B4-BE49-F238E27FC236}">
                <a16:creationId xmlns:a16="http://schemas.microsoft.com/office/drawing/2014/main" id="{C7259BD9-11BE-4DCF-978F-8664BD791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524250"/>
            <a:ext cx="771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B65E1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B65E1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B65E1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B65E1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B65E1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B65E1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B65E1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B65E1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B65E1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B65E1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B65E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65E17"/>
                </a:solidFill>
                <a:latin typeface="Microsoft YaHei"/>
                <a:ea typeface="Microsoft YaHei"/>
                <a:cs typeface="Microsoft YaHei"/>
              </a:rPr>
              <a:t>发现问题后继续实现与集成；相同故障先定位，再聚焦复验</a:t>
            </a:r>
          </a:p>
        </p:txBody>
      </p:sp>
      <p:sp>
        <p:nvSpPr>
          <p:cNvPr id="26" name="divider-443">
            <a:extLst xmlns:a="http://schemas.openxmlformats.org/drawingml/2006/main">
              <a:ext uri="{FF2B5EF4-FFF2-40B4-BE49-F238E27FC236}">
                <a16:creationId xmlns:a16="http://schemas.microsoft.com/office/drawing/2014/main" id="{32C22527-8193-46A1-93E8-D3355CBD6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9575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exit-label">
            <a:extLst xmlns:a="http://schemas.openxmlformats.org/drawingml/2006/main">
              <a:ext uri="{FF2B5EF4-FFF2-40B4-BE49-F238E27FC236}">
                <a16:creationId xmlns:a16="http://schemas.microsoft.com/office/drawing/2014/main" id="{8822B642-4B6B-499E-AF45-4D450C035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5715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rPr>
              <a:t>退出循环：联合验收与交付</a:t>
            </a:r>
          </a:p>
        </p:txBody>
      </p:sp>
      <p:sp>
        <p:nvSpPr>
          <p:cNvPr id="28" name="gate-acceptance">
            <a:extLst xmlns:a="http://schemas.openxmlformats.org/drawingml/2006/main">
              <a:ext uri="{FF2B5EF4-FFF2-40B4-BE49-F238E27FC236}">
                <a16:creationId xmlns:a16="http://schemas.microsoft.com/office/drawing/2014/main" id="{B3013C16-31BB-445F-910D-0F499D8CE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53000"/>
            <a:ext cx="2476500" cy="857250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CD5E1"/>
            </a:solidFill>
            <a:prstDash val="solid"/>
          </a:ln>
        </p:spPr>
      </p:sp>
      <p:sp>
        <p:nvSpPr>
          <p:cNvPr id="29" name="gate-acceptance-title">
            <a:extLst xmlns:a="http://schemas.openxmlformats.org/drawingml/2006/main">
              <a:ext uri="{FF2B5EF4-FFF2-40B4-BE49-F238E27FC236}">
                <a16:creationId xmlns:a16="http://schemas.microsoft.com/office/drawing/2014/main" id="{250BF225-70C0-4482-930E-751A62615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133975"/>
            <a:ext cx="2324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rPr>
              <a:t>端到端联合验收</a:t>
            </a:r>
          </a:p>
        </p:txBody>
      </p:sp>
      <p:sp>
        <p:nvSpPr>
          <p:cNvPr id="30" name="gate-acceptance-subtitle">
            <a:extLst xmlns:a="http://schemas.openxmlformats.org/drawingml/2006/main">
              <a:ext uri="{FF2B5EF4-FFF2-40B4-BE49-F238E27FC236}">
                <a16:creationId xmlns:a16="http://schemas.microsoft.com/office/drawing/2014/main" id="{55F5F842-5B8A-453A-9CD3-ABA436BD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534025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rPr>
              <a:t>安全 / 真机 / 性能按风险选择</a:t>
            </a:r>
          </a:p>
        </p:txBody>
      </p:sp>
      <p:sp>
        <p:nvSpPr>
          <p:cNvPr id="31" name="gate-pr-ci">
            <a:extLst xmlns:a="http://schemas.openxmlformats.org/drawingml/2006/main">
              <a:ext uri="{FF2B5EF4-FFF2-40B4-BE49-F238E27FC236}">
                <a16:creationId xmlns:a16="http://schemas.microsoft.com/office/drawing/2014/main" id="{78936BDF-041C-4467-B2D4-5EAA0A2A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953000"/>
            <a:ext cx="2476500" cy="857250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CD5E1"/>
            </a:solidFill>
            <a:prstDash val="solid"/>
          </a:ln>
        </p:spPr>
      </p:sp>
      <p:sp>
        <p:nvSpPr>
          <p:cNvPr id="32" name="gate-pr-ci-title">
            <a:extLst xmlns:a="http://schemas.openxmlformats.org/drawingml/2006/main">
              <a:ext uri="{FF2B5EF4-FFF2-40B4-BE49-F238E27FC236}">
                <a16:creationId xmlns:a16="http://schemas.microsoft.com/office/drawing/2014/main" id="{A76B95DB-B2DE-4E68-98A7-531161E70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133975"/>
            <a:ext cx="2324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rPr>
              <a:t>PR 与适用 CI</a:t>
            </a:r>
          </a:p>
        </p:txBody>
      </p:sp>
      <p:sp>
        <p:nvSpPr>
          <p:cNvPr id="33" name="gate-pr-ci-subtitle">
            <a:extLst xmlns:a="http://schemas.openxmlformats.org/drawingml/2006/main">
              <a:ext uri="{FF2B5EF4-FFF2-40B4-BE49-F238E27FC236}">
                <a16:creationId xmlns:a16="http://schemas.microsoft.com/office/drawing/2014/main" id="{1CD5D85D-2F8A-43F1-A1CB-FC9B4723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534025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rPr>
              <a:t>证据对应当前提交</a:t>
            </a:r>
          </a:p>
        </p:txBody>
      </p:sp>
      <p:sp>
        <p:nvSpPr>
          <p:cNvPr id="34" name="gate-authorization">
            <a:extLst xmlns:a="http://schemas.openxmlformats.org/drawingml/2006/main">
              <a:ext uri="{FF2B5EF4-FFF2-40B4-BE49-F238E27FC236}">
                <a16:creationId xmlns:a16="http://schemas.microsoft.com/office/drawing/2014/main" id="{F68B589B-3B2A-4390-AB2E-394D0441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953000"/>
            <a:ext cx="2476500" cy="857250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CD5E1"/>
            </a:solidFill>
            <a:prstDash val="solid"/>
          </a:ln>
        </p:spPr>
      </p:sp>
      <p:sp>
        <p:nvSpPr>
          <p:cNvPr id="35" name="gate-authorization-title">
            <a:extLst xmlns:a="http://schemas.openxmlformats.org/drawingml/2006/main">
              <a:ext uri="{FF2B5EF4-FFF2-40B4-BE49-F238E27FC236}">
                <a16:creationId xmlns:a16="http://schemas.microsoft.com/office/drawing/2014/main" id="{67FB161F-B3D7-41BF-861F-307FEBBC2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133975"/>
            <a:ext cx="2324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263B"/>
                </a:solidFill>
                <a:latin typeface="Microsoft YaHei"/>
                <a:ea typeface="Microsoft YaHei"/>
                <a:cs typeface="Microsoft YaHei"/>
              </a:rPr>
              <a:t>授权合并与发布</a:t>
            </a:r>
          </a:p>
        </p:txBody>
      </p:sp>
      <p:sp>
        <p:nvSpPr>
          <p:cNvPr id="36" name="gate-authorization-subtitle">
            <a:extLst xmlns:a="http://schemas.openxmlformats.org/drawingml/2006/main">
              <a:ext uri="{FF2B5EF4-FFF2-40B4-BE49-F238E27FC236}">
                <a16:creationId xmlns:a16="http://schemas.microsoft.com/office/drawing/2014/main" id="{2189B2CF-7974-4016-A818-D3BFB0F7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534025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rPr>
              <a:t>分别记录真实状态</a:t>
            </a:r>
          </a:p>
        </p:txBody>
      </p:sp>
      <p:sp>
        <p:nvSpPr>
          <p:cNvPr id="39" name="divider-638">
            <a:extLst xmlns:a="http://schemas.openxmlformats.org/drawingml/2006/main">
              <a:ext uri="{FF2B5EF4-FFF2-40B4-BE49-F238E27FC236}">
                <a16:creationId xmlns:a16="http://schemas.microsoft.com/office/drawing/2014/main" id="{2D15A158-1CA6-404D-B4CE-FA1C2D7C7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footer">
            <a:extLst xmlns:a="http://schemas.openxmlformats.org/drawingml/2006/main">
              <a:ext uri="{FF2B5EF4-FFF2-40B4-BE49-F238E27FC236}">
                <a16:creationId xmlns:a16="http://schemas.microsoft.com/office/drawing/2014/main" id="{BCCD65A0-2E1D-45E4-9C78-1201DE74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00775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4657A"/>
                </a:solidFill>
                <a:latin typeface="Microsoft YaHei"/>
                <a:ea typeface="Microsoft YaHei"/>
                <a:cs typeface="Microsoft YaHei"/>
              </a:rPr>
              <a:t>单一任务记录  /  被测版本对应证据  /  资源清理先核对后续依赖</a:t>
            </a:r>
          </a:p>
        </p:txBody>
      </p:sp>
    </p:spTree>
    <p:extLst>
      <p:ext uri="{BB962C8B-B14F-4D97-AF65-F5344CB8AC3E}">
        <p14:creationId xmlns:p14="http://schemas.microsoft.com/office/powerpoint/2010/main" val="18039140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2026-10-29T14:20:57.5310000Z</dcterms:created>
  <dcterms:modified xsi:type="dcterms:W3CDTF">2026-10-29T14:20:57.5310000Z</dcterms:modified>
</coreProperties>
</file>